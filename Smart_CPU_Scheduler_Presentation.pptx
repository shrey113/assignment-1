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2011680" cy="8503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71800" y="658368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NIRMA UNIVERSITY  •  INSTITUTE OF TECHNOLOGY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&amp; Engineering  |  Master of Computer Applications (MCA)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28655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OPERATING SYSTEMS INNOVATIVE ASSIGNMENT – 1 (6CS102CC25)</a:t>
            </a:r>
          </a:p>
          <a:p>
            <a:pPr>
              <a:spcAft>
                <a:spcPts val="400"/>
              </a:spcAft>
              <a:defRPr sz="3000" b="1">
                <a:solidFill>
                  <a:srgbClr val="0F172A"/>
                </a:solidFill>
                <a:latin typeface="Calibri"/>
              </a:defRPr>
            </a:pPr>
            <a:r>
              <a:t>Smart CPU Scheduler Simulator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Interactive Gantt Visualization, Multi-Algorithm Benchmark Comparison &amp; Intelligent Workload Recommender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46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4864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Project Objectives &amp; Key Features</a:t>
            </a:r>
          </a:p>
          <a:p>
            <a:pPr>
              <a:spcAft>
                <a:spcPts val="600"/>
              </a:spcAft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>
                <a:solidFill>
                  <a:srgbClr val="1E293B"/>
                </a:solidFill>
              </a:rPr>
              <a:t>Complete Algorithmic Suite: </a:t>
            </a:r>
            <a:r>
              <a:rPr b="0">
                <a:solidFill>
                  <a:srgbClr val="64748B"/>
                </a:solidFill>
              </a:rPr>
              <a:t>Implements FCFS, SJF (Non-Preemptive), SRTF (Preemptive), Priority (Preemptive &amp; Non-Preemptive), and Round Robin.</a:t>
            </a:r>
          </a:p>
          <a:p>
            <a:pPr>
              <a:spcAft>
                <a:spcPts val="600"/>
              </a:spcAft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>
                <a:solidFill>
                  <a:srgbClr val="1E293B"/>
                </a:solidFill>
              </a:rPr>
              <a:t>Interactive Web Dashboard: </a:t>
            </a:r>
            <a:r>
              <a:rPr b="0">
                <a:solidFill>
                  <a:srgbClr val="64748B"/>
                </a:solidFill>
              </a:rPr>
              <a:t>Built with Streamlit &amp; Plotly for dynamic process inputs, real-time metrics, and color-coded Gantt timelines.</a:t>
            </a:r>
          </a:p>
          <a:p>
            <a:pPr>
              <a:spcAft>
                <a:spcPts val="600"/>
              </a:spcAft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>
                <a:solidFill>
                  <a:srgbClr val="1E293B"/>
                </a:solidFill>
              </a:rPr>
              <a:t>Multi-Algorithm Comparison: </a:t>
            </a:r>
            <a:r>
              <a:rPr b="0">
                <a:solidFill>
                  <a:srgbClr val="64748B"/>
                </a:solidFill>
              </a:rPr>
              <a:t>Side-by-side benchmark bar charts to visually and empirically analyze the Convoy Effect and scheduling trade-offs.</a:t>
            </a:r>
          </a:p>
          <a:p>
            <a:pPr>
              <a:spcAft>
                <a:spcPts val="600"/>
              </a:spcAft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>
                <a:solidFill>
                  <a:srgbClr val="1E293B"/>
                </a:solidFill>
              </a:rPr>
              <a:t>Smart Heuristic Recommender: </a:t>
            </a:r>
            <a:r>
              <a:rPr b="0">
                <a:solidFill>
                  <a:srgbClr val="64748B"/>
                </a:solidFill>
              </a:rPr>
              <a:t>Statistical workload analysis (burst variance &amp; priority spread) to dynamically recommend the optimal scheduling algorithm.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474720"/>
            <a:ext cx="48463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Submission &amp; Author Credentials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563EB"/>
                </a:solidFill>
                <a:latin typeface="Consolas"/>
              </a:rPr>
              <a:t>Student Name        :  </a:t>
            </a:r>
            <a:r>
              <a:rPr sz="1000" b="1">
                <a:solidFill>
                  <a:srgbClr val="0F172A"/>
                </a:solidFill>
                <a:latin typeface="Calibri"/>
              </a:rPr>
              <a:t>Shrey Patel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563EB"/>
                </a:solidFill>
                <a:latin typeface="Consolas"/>
              </a:rPr>
              <a:t>Roll Number         :  </a:t>
            </a:r>
            <a:r>
              <a:rPr sz="1000" b="1">
                <a:solidFill>
                  <a:srgbClr val="0F172A"/>
                </a:solidFill>
                <a:latin typeface="Calibri"/>
              </a:rPr>
              <a:t>26MCA042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563EB"/>
                </a:solidFill>
                <a:latin typeface="Consolas"/>
              </a:rPr>
              <a:t>Program &amp; Semester  :  </a:t>
            </a:r>
            <a:r>
              <a:rPr sz="1000" b="0">
                <a:solidFill>
                  <a:srgbClr val="1E293B"/>
                </a:solidFill>
                <a:latin typeface="Calibri"/>
              </a:rPr>
              <a:t>Master of Computer Applications (MCA - Sem 1)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563EB"/>
                </a:solidFill>
                <a:latin typeface="Consolas"/>
              </a:rPr>
              <a:t>Subject Name        :  </a:t>
            </a:r>
            <a:r>
              <a:rPr sz="1000" b="0">
                <a:solidFill>
                  <a:srgbClr val="1E293B"/>
                </a:solidFill>
                <a:latin typeface="Calibri"/>
              </a:rPr>
              <a:t>Operating System (OS)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563EB"/>
                </a:solidFill>
                <a:latin typeface="Consolas"/>
              </a:rPr>
              <a:t>Subject Code        :  </a:t>
            </a:r>
            <a:r>
              <a:rPr sz="1000" b="0">
                <a:solidFill>
                  <a:srgbClr val="1E293B"/>
                </a:solidFill>
                <a:latin typeface="Calibri"/>
              </a:rPr>
              <a:t>6CS102CC25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563EB"/>
                </a:solidFill>
                <a:latin typeface="Consolas"/>
              </a:rPr>
              <a:t>Faculty Guide       :  </a:t>
            </a:r>
            <a:r>
              <a:rPr sz="1000" b="0">
                <a:solidFill>
                  <a:srgbClr val="1E293B"/>
                </a:solidFill>
                <a:latin typeface="Calibri"/>
              </a:rPr>
              <a:t>Drashti Patel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563EB"/>
                </a:solidFill>
                <a:latin typeface="Consolas"/>
              </a:rPr>
              <a:t>Academic Year       :  </a:t>
            </a:r>
            <a:r>
              <a:rPr sz="1000" b="0">
                <a:solidFill>
                  <a:srgbClr val="1E293B"/>
                </a:solidFill>
                <a:latin typeface="Calibri"/>
              </a:rPr>
              <a:t>2026 – 2027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2563EB"/>
                </a:solidFill>
                <a:latin typeface="Consolas"/>
              </a:rPr>
              <a:t>Technology Stack    :  </a:t>
            </a:r>
            <a:r>
              <a:rPr sz="1000" b="0">
                <a:solidFill>
                  <a:srgbClr val="1E293B"/>
                </a:solidFill>
                <a:latin typeface="Calibri"/>
              </a:rPr>
              <a:t>Python 3.11, Streamlit, Plotly, Pandas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MODULE 1: INTERACTIVE SIMULATION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Calibri"/>
              </a:defRPr>
            </a:pPr>
            <a:r>
              <a:t>Single Algorithm Simulation &amp; Gantt Visualizer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Automated timeline scheduling, real-time KPI metrics, and responsive Plotly Gantt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CPU Scheduler Simulator  •  Operating Systems Innovative Assignment 1  •  Nirma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Calibri"/>
              </a:defRPr>
            </a:pPr>
            <a:r>
              <a:t>2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9319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Interactive Capabilities</a:t>
            </a:r>
          </a:p>
          <a:p>
            <a:pPr>
              <a:spcAft>
                <a:spcPts val="500"/>
              </a:spcAft>
              <a:defRPr sz="950">
                <a:solidFill>
                  <a:srgbClr val="2563EB"/>
                </a:solidFill>
              </a:defRPr>
            </a:pPr>
            <a:r>
              <a:t>• </a:t>
            </a:r>
            <a:r>
              <a:rPr b="1">
                <a:solidFill>
                  <a:srgbClr val="1E293B"/>
                </a:solidFill>
              </a:rPr>
              <a:t>Configurable Inputs: </a:t>
            </a:r>
            <a:r>
              <a:rPr b="0">
                <a:solidFill>
                  <a:srgbClr val="64748B"/>
                </a:solidFill>
              </a:rPr>
              <a:t>Add custom processes or select pre-configured workloads (Short Jobs, Mixed Jobs, Priority Spreads).</a:t>
            </a:r>
          </a:p>
          <a:p>
            <a:pPr>
              <a:spcAft>
                <a:spcPts val="500"/>
              </a:spcAft>
              <a:defRPr sz="950">
                <a:solidFill>
                  <a:srgbClr val="2563EB"/>
                </a:solidFill>
              </a:defRPr>
            </a:pPr>
            <a:r>
              <a:t>• </a:t>
            </a:r>
            <a:r>
              <a:rPr b="1">
                <a:solidFill>
                  <a:srgbClr val="1E293B"/>
                </a:solidFill>
              </a:rPr>
              <a:t>Dynamic Parameters: </a:t>
            </a:r>
            <a:r>
              <a:rPr b="0">
                <a:solidFill>
                  <a:srgbClr val="64748B"/>
                </a:solidFill>
              </a:rPr>
              <a:t>Fine-tune Round Robin Quantum Q, Preemptive vs Non-Preemptive toggles in real-time.</a:t>
            </a:r>
          </a:p>
          <a:p>
            <a:pPr>
              <a:spcAft>
                <a:spcPts val="500"/>
              </a:spcAft>
              <a:defRPr sz="950">
                <a:solidFill>
                  <a:srgbClr val="2563EB"/>
                </a:solidFill>
              </a:defRPr>
            </a:pPr>
            <a:r>
              <a:t>• </a:t>
            </a:r>
            <a:r>
              <a:rPr b="1">
                <a:solidFill>
                  <a:srgbClr val="1E293B"/>
                </a:solidFill>
              </a:rPr>
              <a:t>Plotly Gantt Chart: </a:t>
            </a:r>
            <a:r>
              <a:rPr b="0">
                <a:solidFill>
                  <a:srgbClr val="64748B"/>
                </a:solidFill>
              </a:rPr>
              <a:t>Color-coded visual bars showing exact execution time slices, context switches, and CPU idle intervals.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Performance Metrics Computed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</a:defRPr>
            </a:pPr>
            <a:r>
              <a:t>✔ </a:t>
            </a:r>
            <a:r>
              <a:rPr b="1">
                <a:solidFill>
                  <a:srgbClr val="1E293B"/>
                </a:solidFill>
              </a:rPr>
              <a:t>Turnaround Time (TAT): </a:t>
            </a:r>
            <a:r>
              <a:rPr b="0">
                <a:solidFill>
                  <a:srgbClr val="64748B"/>
                </a:solidFill>
              </a:rPr>
              <a:t>Finish Time − Arrival Time (Total system duration).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</a:defRPr>
            </a:pPr>
            <a:r>
              <a:t>✔ </a:t>
            </a:r>
            <a:r>
              <a:rPr b="1">
                <a:solidFill>
                  <a:srgbClr val="1E293B"/>
                </a:solidFill>
              </a:rPr>
              <a:t>Waiting Time (WT): </a:t>
            </a:r>
            <a:r>
              <a:rPr b="0">
                <a:solidFill>
                  <a:srgbClr val="64748B"/>
                </a:solidFill>
              </a:rPr>
              <a:t>Turnaround Time − Burst Time (Delay in Ready Queue).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</a:defRPr>
            </a:pPr>
            <a:r>
              <a:t>✔ </a:t>
            </a:r>
            <a:r>
              <a:rPr b="1">
                <a:solidFill>
                  <a:srgbClr val="1E293B"/>
                </a:solidFill>
              </a:rPr>
              <a:t>Response Time (RT): </a:t>
            </a:r>
            <a:r>
              <a:rPr b="0">
                <a:solidFill>
                  <a:srgbClr val="64748B"/>
                </a:solidFill>
              </a:rPr>
              <a:t>First CPU Execution − Arrival Time (Latency).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</a:defRPr>
            </a:pPr>
            <a:r>
              <a:t>✔ </a:t>
            </a:r>
            <a:r>
              <a:rPr b="1">
                <a:solidFill>
                  <a:srgbClr val="1E293B"/>
                </a:solidFill>
              </a:rPr>
              <a:t>CPU Utilization (%): </a:t>
            </a:r>
            <a:r>
              <a:rPr b="0">
                <a:solidFill>
                  <a:srgbClr val="64748B"/>
                </a:solidFill>
              </a:rPr>
              <a:t>(Busy CPU Time / Total Schedule Length) * 100.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</a:defRPr>
            </a:pPr>
            <a:r>
              <a:t>✔ </a:t>
            </a:r>
            <a:r>
              <a:rPr b="1">
                <a:solidFill>
                  <a:srgbClr val="1E293B"/>
                </a:solidFill>
              </a:rPr>
              <a:t>Context Switches: </a:t>
            </a:r>
            <a:r>
              <a:rPr b="0">
                <a:solidFill>
                  <a:srgbClr val="64748B"/>
                </a:solidFill>
              </a:rPr>
              <a:t>Total process preemptions &amp; state switches logged.</a:t>
            </a:r>
          </a:p>
        </p:txBody>
      </p:sp>
      <p:pic>
        <p:nvPicPr>
          <p:cNvPr id="8" name="Picture 7" descr="01_single_algorithm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45920"/>
            <a:ext cx="6613855" cy="43434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846320" y="6062472"/>
            <a:ext cx="66138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1: Live Web App — Process Table, KPI Metric Cards, and Plotly Gantt Execution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MODULE 2: BENCHMARKING &amp; CONVOY EFFECT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Calibri"/>
              </a:defRPr>
            </a:pPr>
            <a:r>
              <a:t>Multi-Algorithm Comparative Benchmark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Side-by-side empirical performance comparison across all 5 algorithms on identical workloads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CPU Scheduler Simulator  •  Operating Systems Innovative Assignment 1  •  Nirma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Calibri"/>
              </a:defRPr>
            </a:pPr>
            <a:r>
              <a:t>3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9319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Simultaneous Multi-Algorithm Evaluation</a:t>
            </a:r>
          </a:p>
          <a:p>
            <a:pPr>
              <a:spcAft>
                <a:spcPts val="500"/>
              </a:spcAft>
              <a:defRPr sz="950">
                <a:solidFill>
                  <a:srgbClr val="2563EB"/>
                </a:solidFill>
              </a:defRPr>
            </a:pPr>
            <a:r>
              <a:t>• </a:t>
            </a:r>
            <a:r>
              <a:rPr b="1">
                <a:solidFill>
                  <a:srgbClr val="1E293B"/>
                </a:solidFill>
              </a:rPr>
              <a:t>Side-by-Side Execution: </a:t>
            </a:r>
            <a:r>
              <a:rPr b="0">
                <a:solidFill>
                  <a:srgbClr val="64748B"/>
                </a:solidFill>
              </a:rPr>
              <a:t>Runs FCFS, SJF, SRTF, Priority, and Round Robin simultaneously under identical process arrivals.</a:t>
            </a:r>
          </a:p>
          <a:p>
            <a:pPr>
              <a:spcAft>
                <a:spcPts val="500"/>
              </a:spcAft>
              <a:defRPr sz="950">
                <a:solidFill>
                  <a:srgbClr val="2563EB"/>
                </a:solidFill>
              </a:defRPr>
            </a:pPr>
            <a:r>
              <a:t>• </a:t>
            </a:r>
            <a:r>
              <a:rPr b="1">
                <a:solidFill>
                  <a:srgbClr val="1E293B"/>
                </a:solidFill>
              </a:rPr>
              <a:t>Grouped Bar Charts: </a:t>
            </a:r>
            <a:r>
              <a:rPr b="0">
                <a:solidFill>
                  <a:srgbClr val="64748B"/>
                </a:solidFill>
              </a:rPr>
              <a:t>Plots Avg Waiting Time, Turnaround Time, and Response Time together for instant visual contrast.</a:t>
            </a:r>
          </a:p>
          <a:p>
            <a:pPr>
              <a:spcAft>
                <a:spcPts val="500"/>
              </a:spcAft>
              <a:defRPr sz="950">
                <a:solidFill>
                  <a:srgbClr val="2563EB"/>
                </a:solidFill>
              </a:defRPr>
            </a:pPr>
            <a:r>
              <a:t>• </a:t>
            </a:r>
            <a:r>
              <a:rPr b="1">
                <a:solidFill>
                  <a:srgbClr val="1E293B"/>
                </a:solidFill>
              </a:rPr>
              <a:t>Empirical Validation: </a:t>
            </a:r>
            <a:r>
              <a:rPr b="0">
                <a:solidFill>
                  <a:srgbClr val="64748B"/>
                </a:solidFill>
              </a:rPr>
              <a:t>Provides quantitative proof of theoretical scheduling trade-offs directly in the browser.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Convoy Effect Case Study (Test Case 2)</a:t>
            </a:r>
          </a:p>
          <a:p>
            <a:pPr>
              <a:spcAft>
                <a:spcPts val="400"/>
              </a:spcAft>
              <a:defRPr sz="900"/>
            </a:pPr>
            <a:r>
              <a:t>⚡ </a:t>
            </a:r>
            <a:r>
              <a:rPr b="1">
                <a:solidFill>
                  <a:srgbClr val="1E293B"/>
                </a:solidFill>
              </a:rPr>
              <a:t>FCFS Convoy Penalty: </a:t>
            </a:r>
            <a:r>
              <a:rPr b="0">
                <a:solidFill>
                  <a:srgbClr val="64748B"/>
                </a:solidFill>
              </a:rPr>
              <a:t>P1 (Burst: 8ms) blocks ready short jobs, escalating Avg Waiting Time to 8.80 ms.</a:t>
            </a:r>
          </a:p>
          <a:p>
            <a:pPr>
              <a:spcAft>
                <a:spcPts val="400"/>
              </a:spcAft>
              <a:defRPr sz="900"/>
            </a:pPr>
            <a:r>
              <a:t>⚡ </a:t>
            </a:r>
            <a:r>
              <a:rPr b="1">
                <a:solidFill>
                  <a:srgbClr val="1E293B"/>
                </a:solidFill>
              </a:rPr>
              <a:t>SRTF Preemption Win: </a:t>
            </a:r>
            <a:r>
              <a:rPr b="0">
                <a:solidFill>
                  <a:srgbClr val="64748B"/>
                </a:solidFill>
              </a:rPr>
              <a:t>Preempts long jobs for shorter tasks, slashing Avg WT to 3.60 ms (59% reduction!).</a:t>
            </a:r>
          </a:p>
          <a:p>
            <a:pPr>
              <a:spcAft>
                <a:spcPts val="400"/>
              </a:spcAft>
              <a:defRPr sz="900"/>
            </a:pPr>
            <a:r>
              <a:t>⚡ </a:t>
            </a:r>
            <a:r>
              <a:rPr b="1">
                <a:solidFill>
                  <a:srgbClr val="1E293B"/>
                </a:solidFill>
              </a:rPr>
              <a:t>Round Robin Balance: </a:t>
            </a:r>
            <a:r>
              <a:rPr b="0">
                <a:solidFill>
                  <a:srgbClr val="64748B"/>
                </a:solidFill>
              </a:rPr>
              <a:t>Maintains balanced response latency (2.40 ms) across all processes, preventing starvation.</a:t>
            </a:r>
          </a:p>
        </p:txBody>
      </p:sp>
      <p:pic>
        <p:nvPicPr>
          <p:cNvPr id="8" name="Picture 7" descr="02_comparative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45920"/>
            <a:ext cx="6613855" cy="43434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846320" y="6062472"/>
            <a:ext cx="66138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2: Live Web App — Multi-Algorithm Benchmark Comparison (Grouped Bar Charts &amp; Performance Table)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MODULE 3: ADDITIONAL INNOVATION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Calibri"/>
              </a:defRPr>
            </a:pPr>
            <a:r>
              <a:t>Intelligent Workload-Based Algorithm Recommender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Heuristic AI engine that dynamically analyzes batch characteristics to select the optimal scheduling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CPU Scheduler Simulator  •  Operating Systems Innovative Assignment 1  •  Nirma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Calibri"/>
              </a:defRPr>
            </a:pPr>
            <a:r>
              <a:t>4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9319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Heuristic Decision Rules</a:t>
            </a:r>
          </a:p>
          <a:p>
            <a:pPr>
              <a:spcAft>
                <a:spcPts val="500"/>
              </a:spcAft>
              <a:defRPr sz="950">
                <a:solidFill>
                  <a:srgbClr val="2563EB"/>
                </a:solidFill>
              </a:defRPr>
            </a:pPr>
            <a:r>
              <a:t>• </a:t>
            </a:r>
            <a:r>
              <a:rPr b="1">
                <a:solidFill>
                  <a:srgbClr val="1E293B"/>
                </a:solidFill>
              </a:rPr>
              <a:t>High Burst Variance (&gt; 4.0): </a:t>
            </a:r>
            <a:r>
              <a:rPr b="0">
                <a:solidFill>
                  <a:srgbClr val="64748B"/>
                </a:solidFill>
              </a:rPr>
              <a:t>Detects severe burst heterogeneity. Recommends Round Robin or SRTF to eliminate FCFS convoy delays.</a:t>
            </a:r>
          </a:p>
          <a:p>
            <a:pPr>
              <a:spcAft>
                <a:spcPts val="500"/>
              </a:spcAft>
              <a:defRPr sz="950">
                <a:solidFill>
                  <a:srgbClr val="2563EB"/>
                </a:solidFill>
              </a:defRPr>
            </a:pPr>
            <a:r>
              <a:t>• </a:t>
            </a:r>
            <a:r>
              <a:rPr b="1">
                <a:solidFill>
                  <a:srgbClr val="1E293B"/>
                </a:solidFill>
              </a:rPr>
              <a:t>Homogeneous Short Tasks (≤ 4ms): </a:t>
            </a:r>
            <a:r>
              <a:rPr b="0">
                <a:solidFill>
                  <a:srgbClr val="64748B"/>
                </a:solidFill>
              </a:rPr>
              <a:t>Detects quick micro-bursts. Recommends SJF / SRTF to mathematically minimize average turnaround time.</a:t>
            </a:r>
          </a:p>
          <a:p>
            <a:pPr>
              <a:spcAft>
                <a:spcPts val="500"/>
              </a:spcAft>
              <a:defRPr sz="950">
                <a:solidFill>
                  <a:srgbClr val="2563EB"/>
                </a:solidFill>
              </a:defRPr>
            </a:pPr>
            <a:r>
              <a:t>• </a:t>
            </a:r>
            <a:r>
              <a:rPr b="1">
                <a:solidFill>
                  <a:srgbClr val="1E293B"/>
                </a:solidFill>
              </a:rPr>
              <a:t>High Priority Spread (≥ 3 Tiers): </a:t>
            </a:r>
            <a:r>
              <a:rPr b="0">
                <a:solidFill>
                  <a:srgbClr val="64748B"/>
                </a:solidFill>
              </a:rPr>
              <a:t>Detects mission-critical tasks mixed with background jobs. Recommends Preemptive Priority.</a:t>
            </a:r>
          </a:p>
          <a:p>
            <a:pPr>
              <a:spcAft>
                <a:spcPts val="500"/>
              </a:spcAft>
              <a:defRPr sz="950">
                <a:solidFill>
                  <a:srgbClr val="2563EB"/>
                </a:solidFill>
              </a:defRPr>
            </a:pPr>
            <a:r>
              <a:t>• </a:t>
            </a:r>
            <a:r>
              <a:rPr b="1">
                <a:solidFill>
                  <a:srgbClr val="1E293B"/>
                </a:solidFill>
              </a:rPr>
              <a:t>Synchronous Batch Arrivals: </a:t>
            </a:r>
            <a:r>
              <a:rPr b="0">
                <a:solidFill>
                  <a:srgbClr val="64748B"/>
                </a:solidFill>
              </a:rPr>
              <a:t>Recommends FCFS for uniform sequential pipelines to avoid redundant context switching overhead.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Explainable Intelligence</a:t>
            </a:r>
          </a:p>
          <a:p>
            <a:pPr>
              <a:spcAft>
                <a:spcPts val="300"/>
              </a:spcAft>
              <a:defRPr sz="900">
                <a:solidFill>
                  <a:srgbClr val="10B981"/>
                </a:solidFill>
              </a:defRPr>
            </a:pPr>
            <a:r>
              <a:t>✔ </a:t>
            </a:r>
            <a:r>
              <a:rPr b="1">
                <a:solidFill>
                  <a:srgbClr val="1E293B"/>
                </a:solidFill>
              </a:rPr>
              <a:t>Clear Rationale: </a:t>
            </a:r>
            <a:r>
              <a:rPr b="0">
                <a:solidFill>
                  <a:srgbClr val="64748B"/>
                </a:solidFill>
              </a:rPr>
              <a:t>Explains WHY an algorithm is chosen with confidence metrics.</a:t>
            </a:r>
          </a:p>
          <a:p>
            <a:pPr>
              <a:spcAft>
                <a:spcPts val="300"/>
              </a:spcAft>
              <a:defRPr sz="900">
                <a:solidFill>
                  <a:srgbClr val="10B981"/>
                </a:solidFill>
              </a:defRPr>
            </a:pPr>
            <a:r>
              <a:t>✔ </a:t>
            </a:r>
            <a:r>
              <a:rPr b="1">
                <a:solidFill>
                  <a:srgbClr val="1E293B"/>
                </a:solidFill>
              </a:rPr>
              <a:t>One-Click Run: </a:t>
            </a:r>
            <a:r>
              <a:rPr b="0">
                <a:solidFill>
                  <a:srgbClr val="64748B"/>
                </a:solidFill>
              </a:rPr>
              <a:t>Instantly runs the recommended policy and generates its Gantt chart.</a:t>
            </a:r>
          </a:p>
          <a:p>
            <a:pPr>
              <a:spcAft>
                <a:spcPts val="300"/>
              </a:spcAft>
              <a:defRPr sz="900">
                <a:solidFill>
                  <a:srgbClr val="10B981"/>
                </a:solidFill>
              </a:defRPr>
            </a:pPr>
            <a:r>
              <a:t>✔ </a:t>
            </a:r>
            <a:r>
              <a:rPr b="1">
                <a:solidFill>
                  <a:srgbClr val="1E293B"/>
                </a:solidFill>
              </a:rPr>
              <a:t>Pedagogical Value: </a:t>
            </a:r>
            <a:r>
              <a:rPr b="0">
                <a:solidFill>
                  <a:srgbClr val="64748B"/>
                </a:solidFill>
              </a:rPr>
              <a:t>Helps students connect workload characteristics directly to algorithm behavior.</a:t>
            </a:r>
          </a:p>
        </p:txBody>
      </p:sp>
      <p:pic>
        <p:nvPicPr>
          <p:cNvPr id="8" name="Picture 7" descr="03_smart_recomme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45920"/>
            <a:ext cx="6613855" cy="43434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846320" y="6062472"/>
            <a:ext cx="66138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Figure 3: Live Web App — Smart Workload Recommender (Workload Insights, Algorithm Ranking &amp; Gantt Verification)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SYNTHESIS: ARCHITECTURE, BENCHMARK MATRIX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Calibri"/>
              </a:defRPr>
            </a:pPr>
            <a:r>
              <a:t>System Architecture, Benchmark Matrix &amp; Key Takeaways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Summary of decoupled modular code, quantitative test workload results, and core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CPU Scheduler Simulator  •  Operating Systems Innovative Assignment 1  •  Nirma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Calibri"/>
              </a:defRPr>
            </a:pPr>
            <a:r>
              <a:t>5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29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1. Decoupled Architecture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2563EB"/>
                </a:solidFill>
                <a:latin typeface="Consolas"/>
              </a:rPr>
              <a:t>• scheduler/process.py
</a:t>
            </a:r>
            <a:r>
              <a:rPr sz="850">
                <a:solidFill>
                  <a:srgbClr val="64748B"/>
                </a:solidFill>
                <a:latin typeface="Calibri"/>
              </a:rPr>
              <a:t>  Lightweight process structure (PID, Arrival, Burst, Priority, Remaining).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2563EB"/>
                </a:solidFill>
                <a:latin typeface="Consolas"/>
              </a:rPr>
              <a:t>• scheduler/*.py
</a:t>
            </a:r>
            <a:r>
              <a:rPr sz="850">
                <a:solidFill>
                  <a:srgbClr val="64748B"/>
                </a:solidFill>
                <a:latin typeface="Calibri"/>
              </a:rPr>
              <a:t>  Transparent algorithm engines (FCFS, SJF, SRTF, Priority, RR) with zero class bloat.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2563EB"/>
                </a:solidFill>
                <a:latin typeface="Consolas"/>
              </a:rPr>
              <a:t>• scheduler/metrics.py
</a:t>
            </a:r>
            <a:r>
              <a:rPr sz="850">
                <a:solidFill>
                  <a:srgbClr val="64748B"/>
                </a:solidFill>
                <a:latin typeface="Calibri"/>
              </a:rPr>
              <a:t>  Accurate mathematical computation of WT, TAT, RT, and context switches.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2563EB"/>
                </a:solidFill>
                <a:latin typeface="Consolas"/>
              </a:rPr>
              <a:t>• scheduler/smart_suggest.py
</a:t>
            </a:r>
            <a:r>
              <a:rPr sz="850">
                <a:solidFill>
                  <a:srgbClr val="64748B"/>
                </a:solidFill>
                <a:latin typeface="Calibri"/>
              </a:rPr>
              <a:t>  Workload pattern analyzer and heuristic recommendation engine.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2563EB"/>
                </a:solidFill>
                <a:latin typeface="Consolas"/>
              </a:rPr>
              <a:t>• ui/gantt.py
</a:t>
            </a:r>
            <a:r>
              <a:rPr sz="850">
                <a:solidFill>
                  <a:srgbClr val="64748B"/>
                </a:solidFill>
                <a:latin typeface="Calibri"/>
              </a:rPr>
              <a:t>  Plotly visualizer rendering interactive execution bars and timeline ranges.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2563EB"/>
                </a:solidFill>
                <a:latin typeface="Consolas"/>
              </a:rPr>
              <a:t>• app.py
</a:t>
            </a:r>
            <a:r>
              <a:rPr sz="850">
                <a:solidFill>
                  <a:srgbClr val="64748B"/>
                </a:solidFill>
                <a:latin typeface="Calibri"/>
              </a:rPr>
              <a:t>  Streamlit UI orchestrator with multi-tab navigation and sidebar controls.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9976" y="1645920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2. Empirical Benchmark Matrix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Test Case 2 (Mixed Convoy Workload: 5 Processes):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79976" y="2423160"/>
          <a:ext cx="341985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13232"/>
                <a:gridCol w="713232"/>
                <a:gridCol w="713232"/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WT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TAT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FCFS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8.80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13.20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8.80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SJF (Non-Preempt)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6.00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10.40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6.00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SRTF (Preemptive)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3.60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8.00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1.60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Priority (Preempt)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4.80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9.20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2.60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Round Robin (Q=2)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7.60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12.00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2.40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79976" y="466344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t>Quantitative Benchmark Findings:</a:t>
            </a:r>
          </a:p>
          <a:p>
            <a:pPr>
              <a:spcAft>
                <a:spcPts val="300"/>
              </a:spcAft>
              <a:defRPr sz="850">
                <a:solidFill>
                  <a:srgbClr val="64748B"/>
                </a:solidFill>
                <a:latin typeface="Calibri"/>
              </a:defRPr>
            </a:pPr>
            <a:r>
              <a:t>• SRTF provides provably lowest WT (3.60ms), reducing latency by 59% over FCFS.</a:t>
            </a:r>
          </a:p>
          <a:p>
            <a:pPr>
              <a:spcAft>
                <a:spcPts val="300"/>
              </a:spcAft>
              <a:defRPr sz="850">
                <a:solidFill>
                  <a:srgbClr val="64748B"/>
                </a:solidFill>
                <a:latin typeface="Calibri"/>
              </a:defRPr>
            </a:pPr>
            <a:r>
              <a:t>• Round Robin ensures uniform responsiveness (RT: 2.40ms) despite higher context switches (11).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2" y="1645920"/>
            <a:ext cx="3429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3. Conclusions &amp; Takeaways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</a:defRPr>
            </a:pPr>
            <a:r>
              <a:t>✔ </a:t>
            </a:r>
            <a:r>
              <a:rPr b="1">
                <a:solidFill>
                  <a:srgbClr val="1E293B"/>
                </a:solidFill>
              </a:rPr>
              <a:t>Bridging Theory &amp; Practice: </a:t>
            </a:r>
            <a:r>
              <a:rPr b="0">
                <a:solidFill>
                  <a:srgbClr val="64748B"/>
                </a:solidFill>
              </a:rPr>
              <a:t>Replaces error-prone manual paper Gantt chart calculations with a verifiable, interactive simulator.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</a:defRPr>
            </a:pPr>
            <a:r>
              <a:t>✔ </a:t>
            </a:r>
            <a:r>
              <a:rPr b="1">
                <a:solidFill>
                  <a:srgbClr val="1E293B"/>
                </a:solidFill>
              </a:rPr>
              <a:t>Empirical Rigor: </a:t>
            </a:r>
            <a:r>
              <a:rPr b="0">
                <a:solidFill>
                  <a:srgbClr val="64748B"/>
                </a:solidFill>
              </a:rPr>
              <a:t>Visually and quantitatively confirms theoretical phenomena like the FCFS Convoy Effect and RR time slice sensitivity.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</a:defRPr>
            </a:pPr>
            <a:r>
              <a:t>✔ </a:t>
            </a:r>
            <a:r>
              <a:rPr b="1">
                <a:solidFill>
                  <a:srgbClr val="1E293B"/>
                </a:solidFill>
              </a:rPr>
              <a:t>Intelligent Scheduling: </a:t>
            </a:r>
            <a:r>
              <a:rPr b="0">
                <a:solidFill>
                  <a:srgbClr val="64748B"/>
                </a:solidFill>
              </a:rPr>
              <a:t>Proves that algorithm selection can be automated through feature extraction and variance analysis.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</a:defRPr>
            </a:pPr>
            <a:r>
              <a:t>✔ </a:t>
            </a:r>
            <a:r>
              <a:rPr b="1">
                <a:solidFill>
                  <a:srgbClr val="1E293B"/>
                </a:solidFill>
              </a:rPr>
              <a:t>Clean Engineering: </a:t>
            </a:r>
            <a:r>
              <a:rPr b="0">
                <a:solidFill>
                  <a:srgbClr val="64748B"/>
                </a:solidFill>
              </a:rPr>
              <a:t>Demonstrates high code maintainability through modular separation between algorithmic logic and presentation layers.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</a:defRPr>
            </a:pPr>
            <a:r>
              <a:t>✔ </a:t>
            </a:r>
            <a:r>
              <a:rPr b="1">
                <a:solidFill>
                  <a:srgbClr val="1E293B"/>
                </a:solidFill>
              </a:rPr>
              <a:t>Future Roadmap: </a:t>
            </a:r>
            <a:r>
              <a:rPr b="0">
                <a:solidFill>
                  <a:srgbClr val="64748B"/>
                </a:solidFill>
              </a:rPr>
              <a:t>Extensible to Multi-Level Feedback Queues (MLFQ), multi-core CPU scheduling, and dynamic real-time priority aging.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